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822960" y="1828800"/>
            <a:ext cx="10515600" cy="2377440"/>
          </a:xfrm>
          <a:prstGeom prst="rect">
            <a:avLst/>
          </a:prstGeom>
          <a:noFill/>
        </p:spPr>
        <p:txBody>
          <a:bodyPr wrap="square">
            <a:spAutoFit/>
          </a:bodyPr>
          <a:lstStyle/>
          <a:p>
            <a:pPr>
              <a:spcAft>
                <a:spcPts val="1400"/>
              </a:spcAft>
            </a:pPr>
            <a:r>
              <a:rPr sz="3000" b="1">
                <a:solidFill>
                  <a:srgbClr val="ECECEC"/>
                </a:solidFill>
                <a:latin typeface="Calibri"/>
              </a:rPr>
              <a:t>Learning Emerging Behaviors of Dynamic Multi-Agent Systems using Graph Neural Networks</a:t>
            </a:r>
          </a:p>
          <a:p>
            <a:pPr>
              <a:spcAft>
                <a:spcPts val="800"/>
              </a:spcAft>
            </a:pPr>
            <a:r>
              <a:rPr sz="2000" b="0">
                <a:solidFill>
                  <a:srgbClr val="E03A3C"/>
                </a:solidFill>
                <a:latin typeface="Calibri"/>
              </a:rPr>
              <a:t>Progress: we answered which models are good and bad ideas, then found our own headline was an artifact</a:t>
            </a:r>
          </a:p>
        </p:txBody>
      </p:sp>
      <p:sp>
        <p:nvSpPr>
          <p:cNvPr id="3" name="TextBox 2"/>
          <p:cNvSpPr txBox="1"/>
          <p:nvPr/>
        </p:nvSpPr>
        <p:spPr>
          <a:xfrm>
            <a:off x="822960" y="4572000"/>
            <a:ext cx="10515600" cy="1463040"/>
          </a:xfrm>
          <a:prstGeom prst="rect">
            <a:avLst/>
          </a:prstGeom>
          <a:noFill/>
        </p:spPr>
        <p:txBody>
          <a:bodyPr wrap="square">
            <a:spAutoFit/>
          </a:bodyPr>
          <a:lstStyle/>
          <a:p>
            <a:pPr>
              <a:spcAft>
                <a:spcPts val="600"/>
              </a:spcAft>
            </a:pPr>
            <a:r>
              <a:rPr sz="2200" b="1">
                <a:solidFill>
                  <a:srgbClr val="ECECEC"/>
                </a:solidFill>
                <a:latin typeface="Calibri"/>
              </a:rPr>
              <a:t>Mustafa Nazeer and Joel Pampam</a:t>
            </a:r>
          </a:p>
          <a:p>
            <a:pPr>
              <a:spcAft>
                <a:spcPts val="400"/>
              </a:spcAft>
            </a:pPr>
            <a:r>
              <a:rPr sz="1600" b="0">
                <a:solidFill>
                  <a:srgbClr val="B2B2BE"/>
                </a:solidFill>
                <a:latin typeface="Calibri"/>
              </a:rPr>
              <a:t>Mentor: Dr. Diego Patino</a:t>
            </a:r>
          </a:p>
          <a:p>
            <a:pPr>
              <a:spcAft>
                <a:spcPts val="800"/>
              </a:spcAft>
            </a:pPr>
            <a:r>
              <a:rPr sz="1600" b="0">
                <a:solidFill>
                  <a:srgbClr val="B2B2BE"/>
                </a:solidFill>
                <a:latin typeface="Calibri"/>
              </a:rPr>
              <a:t>Prepared September 14, 2026, for the September 28 meeting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Where your assignment stands</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900" b="0">
                <a:solidFill>
                  <a:srgbClr val="ECECEC"/>
                </a:solidFill>
                <a:latin typeface="Calibri"/>
              </a:rPr>
              <a:t>•  August 31, your words: find the right model, or combination of models, for our research, our use case, and the data we can generate, that can model the agentic relationships. Second goal: knowing why and which models are a good and a bad idea.</a:t>
            </a:r>
          </a:p>
          <a:p>
            <a:pPr>
              <a:spcAft>
                <a:spcPts val="1200"/>
              </a:spcAft>
            </a:pPr>
            <a:r>
              <a:rPr sz="1900" b="0">
                <a:solidFill>
                  <a:srgbClr val="ECECEC"/>
                </a:solidFill>
                <a:latin typeface="Calibri"/>
              </a:rPr>
              <a:t>•  For deciding who is connected to whom, the answer is uncomfortable and it is measured, not guessed. Neither the recurrent part nor the graph part of our model does any measurable work. The only thing that moved the number was how many frames of history we showed it.</a:t>
            </a:r>
          </a:p>
          <a:p>
            <a:pPr>
              <a:spcAft>
                <a:spcPts val="1200"/>
              </a:spcAft>
            </a:pPr>
            <a:r>
              <a:rPr sz="1900" b="0">
                <a:solidFill>
                  <a:srgbClr val="ECECEC"/>
                </a:solidFill>
                <a:latin typeface="Calibri"/>
              </a:rPr>
              <a:t>•  So we stopped asking which model classifies our edges best, and started asking a different question: given the trajectories, can the interaction rules themselves be recovered, and when does that fail?</a:t>
            </a:r>
          </a:p>
          <a:p>
            <a:pPr>
              <a:spcAft>
                <a:spcPts val="1200"/>
              </a:spcAft>
            </a:pPr>
            <a:r>
              <a:rPr sz="1900" b="0">
                <a:solidFill>
                  <a:srgbClr val="ECECEC"/>
                </a:solidFill>
                <a:latin typeface="Calibri"/>
              </a:rPr>
              <a:t>•  That question turned out to be answerable exactly, because our simulator knows every parameter that produced every run.</a:t>
            </a:r>
          </a:p>
          <a:p>
            <a:pPr>
              <a:spcAft>
                <a:spcPts val="1200"/>
              </a:spcAft>
            </a:pPr>
            <a:r>
              <a:rPr sz="1900" b="0">
                <a:solidFill>
                  <a:srgbClr val="ECECEC"/>
                </a:solidFill>
                <a:latin typeface="Calibri"/>
              </a:rPr>
              <a:t>•  Everything after this slide is new since we last spoke.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Why we changed the question</a:t>
            </a:r>
          </a:p>
        </p:txBody>
      </p:sp>
      <p:sp>
        <p:nvSpPr>
          <p:cNvPr id="3" name="TextBox 2"/>
          <p:cNvSpPr txBox="1"/>
          <p:nvPr/>
        </p:nvSpPr>
        <p:spPr>
          <a:xfrm>
            <a:off x="685800" y="1554480"/>
            <a:ext cx="10972800" cy="3108960"/>
          </a:xfrm>
          <a:prstGeom prst="rect">
            <a:avLst/>
          </a:prstGeom>
          <a:noFill/>
        </p:spPr>
        <p:txBody>
          <a:bodyPr wrap="square">
            <a:spAutoFit/>
          </a:bodyPr>
          <a:lstStyle/>
          <a:p>
            <a:pPr>
              <a:spcAft>
                <a:spcPts val="1200"/>
              </a:spcAft>
            </a:pPr>
            <a:r>
              <a:rPr sz="1700" b="0">
                <a:solidFill>
                  <a:srgbClr val="ECECEC"/>
                </a:solidFill>
                <a:latin typeface="Calibri"/>
              </a:rPr>
              <a:t>•  Our simulation is not only a source of data. It records the exact radius and the exact strength of every rule behind every run, so it can check any answer we produce. We had never used it that way.</a:t>
            </a:r>
          </a:p>
          <a:p>
            <a:pPr>
              <a:spcAft>
                <a:spcPts val="1200"/>
              </a:spcAft>
            </a:pPr>
            <a:r>
              <a:rPr sz="1700" b="0">
                <a:solidFill>
                  <a:srgbClr val="ECECEC"/>
                </a:solidFill>
                <a:latin typeface="Calibri"/>
              </a:rPr>
              <a:t>•  First check: can we rebuild the next frame from the stored parameters? Yes, exactly, to the last digit a computer holds, across every transition of every run.</a:t>
            </a:r>
          </a:p>
          <a:p>
            <a:pPr>
              <a:spcAft>
                <a:spcPts val="1200"/>
              </a:spcAft>
            </a:pPr>
            <a:r>
              <a:rPr sz="1700" b="0">
                <a:solidFill>
                  <a:srgbClr val="ECECEC"/>
                </a:solidFill>
                <a:latin typeface="Calibri"/>
              </a:rPr>
              <a:t>•  Second: if we are told the three radii, can we recover the three strengths? Yes, by ordinary least squares, again to the last digit.</a:t>
            </a:r>
          </a:p>
          <a:p>
            <a:pPr>
              <a:spcAft>
                <a:spcPts val="1200"/>
              </a:spcAft>
            </a:pPr>
            <a:r>
              <a:rPr sz="1700" b="0">
                <a:solidFill>
                  <a:srgbClr val="ECECEC"/>
                </a:solidFill>
                <a:latin typeface="Calibri"/>
              </a:rPr>
              <a:t>•  Third, and this is the one that changed the project: how much data does that need? One transition. Not a forty frame window, not eight hundred training examples. One step of eighty boids.</a:t>
            </a:r>
          </a:p>
          <a:p>
            <a:pPr>
              <a:spcAft>
                <a:spcPts val="1200"/>
              </a:spcAft>
            </a:pPr>
            <a:r>
              <a:rPr sz="1700" b="0">
                <a:solidFill>
                  <a:srgbClr val="ECECEC"/>
                </a:solidFill>
                <a:latin typeface="Calibri"/>
              </a:rPr>
              <a:t>•  So recovering the rules is not a research problem, it is a few lines of arithmetic. Where it stops working is the research problem.</a:t>
            </a:r>
          </a:p>
        </p:txBody>
      </p:sp>
      <p:sp>
        <p:nvSpPr>
          <p:cNvPr id="4" name="Rounded Rectangle 3"/>
          <p:cNvSpPr/>
          <p:nvPr/>
        </p:nvSpPr>
        <p:spPr>
          <a:xfrm>
            <a:off x="685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recorded</a:t>
            </a:r>
          </a:p>
          <a:p>
            <a:pPr algn="ctr">
              <a:spcAft>
                <a:spcPts val="0"/>
              </a:spcAft>
            </a:pPr>
            <a:r>
              <a:rPr sz="1300" b="1">
                <a:solidFill>
                  <a:srgbClr val="ECECEC"/>
                </a:solidFill>
                <a:latin typeface="Calibri"/>
              </a:rPr>
              <a:t>trajectory</a:t>
            </a:r>
          </a:p>
        </p:txBody>
      </p:sp>
      <p:sp>
        <p:nvSpPr>
          <p:cNvPr id="5" name="Right Arrow 4"/>
          <p:cNvSpPr/>
          <p:nvPr/>
        </p:nvSpPr>
        <p:spPr>
          <a:xfrm>
            <a:off x="2569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971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candidate</a:t>
            </a:r>
          </a:p>
          <a:p>
            <a:pPr algn="ctr">
              <a:spcAft>
                <a:spcPts val="0"/>
              </a:spcAft>
            </a:pPr>
            <a:r>
              <a:rPr sz="1300" b="1">
                <a:solidFill>
                  <a:srgbClr val="ECECEC"/>
                </a:solidFill>
                <a:latin typeface="Calibri"/>
              </a:rPr>
              <a:t>radii</a:t>
            </a:r>
          </a:p>
        </p:txBody>
      </p:sp>
      <p:sp>
        <p:nvSpPr>
          <p:cNvPr id="7" name="Right Arrow 6"/>
          <p:cNvSpPr/>
          <p:nvPr/>
        </p:nvSpPr>
        <p:spPr>
          <a:xfrm>
            <a:off x="4855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57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least squares</a:t>
            </a:r>
          </a:p>
          <a:p>
            <a:pPr algn="ctr">
              <a:spcAft>
                <a:spcPts val="0"/>
              </a:spcAft>
            </a:pPr>
            <a:r>
              <a:rPr sz="1300" b="1">
                <a:solidFill>
                  <a:srgbClr val="ECECEC"/>
                </a:solidFill>
                <a:latin typeface="Calibri"/>
              </a:rPr>
              <a:t>for strengths</a:t>
            </a:r>
          </a:p>
        </p:txBody>
      </p:sp>
      <p:sp>
        <p:nvSpPr>
          <p:cNvPr id="9" name="Right Arrow 8"/>
          <p:cNvSpPr/>
          <p:nvPr/>
        </p:nvSpPr>
        <p:spPr>
          <a:xfrm>
            <a:off x="7141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3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residual</a:t>
            </a:r>
          </a:p>
        </p:txBody>
      </p:sp>
      <p:sp>
        <p:nvSpPr>
          <p:cNvPr id="11" name="Right Arrow 10"/>
          <p:cNvSpPr/>
          <p:nvPr/>
        </p:nvSpPr>
        <p:spPr>
          <a:xfrm>
            <a:off x="9427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829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true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What goes wrong, and how we were wrong about it</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700" b="0">
                <a:solidFill>
                  <a:srgbClr val="ECECEC"/>
                </a:solidFill>
                <a:latin typeface="Calibri"/>
              </a:rPr>
              <a:t>•  A real tracker records positions, not velocities, so the velocities have to be worked out by subtracting positions. Do that with even a little measurement noise and recovery falls apart.</a:t>
            </a:r>
          </a:p>
          <a:p>
            <a:pPr>
              <a:spcAft>
                <a:spcPts val="1200"/>
              </a:spcAft>
            </a:pPr>
            <a:r>
              <a:rPr sz="1700" b="0">
                <a:solidFill>
                  <a:srgbClr val="ECECEC"/>
                </a:solidFill>
                <a:latin typeface="Calibri"/>
              </a:rPr>
              <a:t>•  It falls apart worse the faster you sample, which is the opposite of what more data usually does. We predicted how much worse, wrote the prediction down before running, and were wrong. The condition we had set for abandoning the prediction fired.</a:t>
            </a:r>
          </a:p>
          <a:p>
            <a:pPr>
              <a:spcAft>
                <a:spcPts val="1200"/>
              </a:spcAft>
            </a:pPr>
            <a:r>
              <a:rPr sz="1700" b="0">
                <a:solidFill>
                  <a:srgbClr val="ECECEC"/>
                </a:solidFill>
                <a:latin typeface="Calibri"/>
              </a:rPr>
              <a:t>•  The failure is not random scatter, it is a systematic pull. It is between ten and fifty times larger than the run to run spread, and it always pushes the strengths too high, never too low.</a:t>
            </a:r>
          </a:p>
          <a:p>
            <a:pPr>
              <a:spcAft>
                <a:spcPts val="1200"/>
              </a:spcAft>
            </a:pPr>
            <a:r>
              <a:rPr sz="1700" b="0">
                <a:solidFill>
                  <a:srgbClr val="ECECEC"/>
                </a:solidFill>
                <a:latin typeface="Calibri"/>
              </a:rPr>
              <a:t>•  That is why more data does not help. Averaging cancels scatter and does nothing to a systematic pull. We tested this directly: quadrupling the observation window changed the answer by three percent.</a:t>
            </a:r>
          </a:p>
          <a:p>
            <a:pPr>
              <a:spcAft>
                <a:spcPts val="1200"/>
              </a:spcAft>
            </a:pPr>
            <a:r>
              <a:rPr sz="1700" b="0">
                <a:solidFill>
                  <a:srgbClr val="ECECEC"/>
                </a:solidFill>
                <a:latin typeface="Calibri"/>
              </a:rPr>
              <a:t>•  Pulling it apart further, it is two competing effects, one pushing up and one pulling down, which is why no single simple law ever fitted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Then we checked the literature, and our headline dissolved</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600" b="0">
                <a:solidFill>
                  <a:srgbClr val="ECECEC"/>
                </a:solidFill>
                <a:latin typeface="Calibri"/>
              </a:rPr>
              <a:t>•  We had been treating the sampling rate result as ours. A literature check says the tradeoff is already known: subtracting noisy positions to get velocities is the central known difficulty in this whole family of methods, and sampling faster making it worse is documented.</a:t>
            </a:r>
          </a:p>
          <a:p>
            <a:pPr>
              <a:spcAft>
                <a:spcPts val="1200"/>
              </a:spcAft>
            </a:pPr>
            <a:r>
              <a:rPr sz="1600" b="0">
                <a:solidFill>
                  <a:srgbClr val="ECECEC"/>
                </a:solidFill>
                <a:latin typeface="Calibri"/>
              </a:rPr>
              <a:t>•  More usefully, the literature has a standard remedy that we had not tried: do not take the derivative of the data at all. Rearrange the equation so the differencing lands on a smooth function we choose instead of on the measurements.</a:t>
            </a:r>
          </a:p>
          <a:p>
            <a:pPr>
              <a:spcAft>
                <a:spcPts val="1200"/>
              </a:spcAft>
            </a:pPr>
            <a:r>
              <a:rPr sz="1600" b="0">
                <a:solidFill>
                  <a:srgbClr val="ECECEC"/>
                </a:solidFill>
                <a:latin typeface="Calibri"/>
              </a:rPr>
              <a:t>•  We implemented it. The systematic pull drops by between ten and a thousand times. The amount of measurement noise the method tolerates rises by up to a hundred and ninety times.</a:t>
            </a:r>
          </a:p>
          <a:p>
            <a:pPr>
              <a:spcAft>
                <a:spcPts val="1200"/>
              </a:spcAft>
            </a:pPr>
            <a:r>
              <a:rPr sz="1600" b="0">
                <a:solidFill>
                  <a:srgbClr val="ECECEC"/>
                </a:solidFill>
                <a:latin typeface="Calibri"/>
              </a:rPr>
              <a:t>•  And the direction of the sampling rate effect reverses. Sampling faster stops hurting. Our headline finding was an artifact of how we took a derivative, not a property of flocking.</a:t>
            </a:r>
          </a:p>
          <a:p>
            <a:pPr>
              <a:spcAft>
                <a:spcPts val="1200"/>
              </a:spcAft>
            </a:pPr>
            <a:r>
              <a:rPr sz="1600" b="0">
                <a:solidFill>
                  <a:srgbClr val="ECECEC"/>
                </a:solidFill>
                <a:latin typeface="Calibri"/>
              </a:rPr>
              <a:t>•  We report it that way. The honest version of this work is that we quantified a known tradeoff on a system where the answer can be checked exactly, and then removed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Which models are a good and a bad idea, and why</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600" b="0">
                <a:solidFill>
                  <a:srgbClr val="ECECEC"/>
                </a:solidFill>
                <a:latin typeface="Calibri"/>
              </a:rPr>
              <a:t>•  Bad idea, measured: adding capacity. Thirteen architectures compared one change at a time, and the biggest model paid four times the parameters and two and a half times the time for nothing.</a:t>
            </a:r>
          </a:p>
          <a:p>
            <a:pPr>
              <a:spcAft>
                <a:spcPts val="1200"/>
              </a:spcAft>
            </a:pPr>
            <a:r>
              <a:rPr sz="1600" b="0">
                <a:solidFill>
                  <a:srgbClr val="ECECEC"/>
                </a:solidFill>
                <a:latin typeface="Calibri"/>
              </a:rPr>
              <a:t>•  Bad idea, measured: a learned model on a task a trivial method already solves. Ranking pairs by plain distance matches our network exactly, because the answer we train against is a distance rule.</a:t>
            </a:r>
          </a:p>
          <a:p>
            <a:pPr>
              <a:spcAft>
                <a:spcPts val="1200"/>
              </a:spcAft>
            </a:pPr>
            <a:r>
              <a:rPr sz="1600" b="0">
                <a:solidFill>
                  <a:srgbClr val="ECECEC"/>
                </a:solidFill>
                <a:latin typeface="Calibri"/>
              </a:rPr>
              <a:t>•  Good idea, and it is the pattern behind every real finding we have: build the reference before the model. The negative results in this project all came from controls, never from a network.</a:t>
            </a:r>
          </a:p>
          <a:p>
            <a:pPr>
              <a:spcAft>
                <a:spcPts val="1200"/>
              </a:spcAft>
            </a:pPr>
            <a:r>
              <a:rPr sz="1600" b="0">
                <a:solidFill>
                  <a:srgbClr val="ECECEC"/>
                </a:solidFill>
                <a:latin typeface="Calibri"/>
              </a:rPr>
              <a:t>•  Good idea, and the largest single improvement all term: match the estimator to the noise. Changing how a derivative is taken beat every architecture change we tried, by orders of magnitude rather than decimal places.</a:t>
            </a:r>
          </a:p>
          <a:p>
            <a:pPr>
              <a:spcAft>
                <a:spcPts val="1200"/>
              </a:spcAft>
            </a:pPr>
            <a:r>
              <a:rPr sz="1600" b="0">
                <a:solidFill>
                  <a:srgbClr val="ECECEC"/>
                </a:solidFill>
                <a:latin typeface="Calibri"/>
              </a:rPr>
              <a:t>•  Honest limit: one simulator, one noise model, and a literature check that says most of this ground is already occupied. We would rather tell you that now than after building on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Questions for you</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700" b="0">
                <a:solidFill>
                  <a:srgbClr val="ECECEC"/>
                </a:solidFill>
                <a:latin typeface="Calibri"/>
              </a:rPr>
              <a:t>•  The identifiability direction is real but most of the ground is known. Is it worth continuing, or should the learning side move to a target where a network can actually win?</a:t>
            </a:r>
          </a:p>
          <a:p>
            <a:pPr>
              <a:spcAft>
                <a:spcPts val="1200"/>
              </a:spcAft>
            </a:pPr>
            <a:r>
              <a:rPr sz="1700" b="0">
                <a:solidFill>
                  <a:srgbClr val="ECECEC"/>
                </a:solidFill>
                <a:latin typeface="Calibri"/>
              </a:rPr>
              <a:t>•  If we move: leader following edges, which are defined by agent type and which we have recorded since June, or predicting the motion itself?</a:t>
            </a:r>
          </a:p>
          <a:p>
            <a:pPr>
              <a:spcAft>
                <a:spcPts val="1200"/>
              </a:spcAft>
            </a:pPr>
            <a:r>
              <a:rPr sz="1700" b="0">
                <a:solidFill>
                  <a:srgbClr val="ECECEC"/>
                </a:solidFill>
                <a:latin typeface="Calibri"/>
              </a:rPr>
              <a:t>•  Is any of this worth writing up, and at what level? We have not looked at venues and would want your read before we did.</a:t>
            </a:r>
          </a:p>
          <a:p>
            <a:pPr>
              <a:spcAft>
                <a:spcPts val="1200"/>
              </a:spcAft>
            </a:pPr>
            <a:r>
              <a:rPr sz="1700" b="0">
                <a:solidFill>
                  <a:srgbClr val="ECECEC"/>
                </a:solidFill>
                <a:latin typeface="Calibri"/>
              </a:rPr>
              <a:t>•  Nothing this term has needed a GPU, and nothing has been submitted to the cluster. Do you still want Isaac Sim this term, or is that better placed next term?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