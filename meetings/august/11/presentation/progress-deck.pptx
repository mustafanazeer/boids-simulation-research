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822960" y="1828800"/>
            <a:ext cx="10515600" cy="2377440"/>
          </a:xfrm>
          <a:prstGeom prst="rect">
            <a:avLst/>
          </a:prstGeom>
          <a:noFill/>
        </p:spPr>
        <p:txBody>
          <a:bodyPr wrap="square">
            <a:spAutoFit/>
          </a:bodyPr>
          <a:lstStyle/>
          <a:p>
            <a:pPr>
              <a:spcAft>
                <a:spcPts val="1400"/>
              </a:spcAft>
            </a:pPr>
            <a:r>
              <a:rPr sz="3000" b="1">
                <a:solidFill>
                  <a:srgbClr val="ECECEC"/>
                </a:solidFill>
                <a:latin typeface="Calibri"/>
              </a:rPr>
              <a:t>Learning Emerging Behaviors of Dynamic Multi-Agent Systems using Graph Neural Networks</a:t>
            </a:r>
          </a:p>
          <a:p>
            <a:pPr>
              <a:spcAft>
                <a:spcPts val="800"/>
              </a:spcAft>
            </a:pPr>
            <a:r>
              <a:rPr sz="2000" b="0">
                <a:solidFill>
                  <a:srgbClr val="E03A3C"/>
                </a:solidFill>
                <a:latin typeface="Calibri"/>
              </a:rPr>
              <a:t>Progress: our first model, and what it could not do</a:t>
            </a:r>
          </a:p>
        </p:txBody>
      </p:sp>
      <p:sp>
        <p:nvSpPr>
          <p:cNvPr id="3" name="TextBox 2"/>
          <p:cNvSpPr txBox="1"/>
          <p:nvPr/>
        </p:nvSpPr>
        <p:spPr>
          <a:xfrm>
            <a:off x="822960" y="4572000"/>
            <a:ext cx="10515600" cy="1463040"/>
          </a:xfrm>
          <a:prstGeom prst="rect">
            <a:avLst/>
          </a:prstGeom>
          <a:noFill/>
        </p:spPr>
        <p:txBody>
          <a:bodyPr wrap="square">
            <a:spAutoFit/>
          </a:bodyPr>
          <a:lstStyle/>
          <a:p>
            <a:pPr>
              <a:spcAft>
                <a:spcPts val="600"/>
              </a:spcAft>
            </a:pPr>
            <a:r>
              <a:rPr sz="2200" b="1">
                <a:solidFill>
                  <a:srgbClr val="ECECEC"/>
                </a:solidFill>
                <a:latin typeface="Calibri"/>
              </a:rPr>
              <a:t>Mustafa Nazeer and Joel Pampam</a:t>
            </a:r>
          </a:p>
          <a:p>
            <a:pPr>
              <a:spcAft>
                <a:spcPts val="400"/>
              </a:spcAft>
            </a:pPr>
            <a:r>
              <a:rPr sz="1600" b="0">
                <a:solidFill>
                  <a:srgbClr val="B2B2BE"/>
                </a:solidFill>
                <a:latin typeface="Calibri"/>
              </a:rPr>
              <a:t>Mentor: Dr. Diego Patino</a:t>
            </a:r>
          </a:p>
          <a:p>
            <a:pPr>
              <a:spcAft>
                <a:spcPts val="800"/>
              </a:spcAft>
            </a:pPr>
            <a:r>
              <a:rPr sz="1600" b="0">
                <a:solidFill>
                  <a:srgbClr val="B2B2BE"/>
                </a:solidFill>
                <a:latin typeface="Calibri"/>
              </a:rPr>
              <a:t>August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What you asked us for on August 11</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900" b="0">
                <a:solidFill>
                  <a:srgbClr val="ECECEC"/>
                </a:solidFill>
                <a:latin typeface="Calibri"/>
              </a:rPr>
              <a:t>•  Understand how GRUs work. Done, written up as a study document.</a:t>
            </a:r>
          </a:p>
          <a:p>
            <a:pPr>
              <a:spcAft>
                <a:spcPts val="1200"/>
              </a:spcAft>
            </a:pPr>
            <a:r>
              <a:rPr sz="1900" b="0">
                <a:solidFill>
                  <a:srgbClr val="ECECEC"/>
                </a:solidFill>
                <a:latin typeface="Calibri"/>
              </a:rPr>
              <a:t>•  Start thinking about how GRUs can be implemented into our code. Done, and we went further than thinking: the model is built and it has run.</a:t>
            </a:r>
          </a:p>
          <a:p>
            <a:pPr>
              <a:spcAft>
                <a:spcPts val="1200"/>
              </a:spcAft>
            </a:pPr>
            <a:r>
              <a:rPr sz="1900" b="0">
                <a:solidFill>
                  <a:srgbClr val="ECECEC"/>
                </a:solidFill>
                <a:latin typeface="Calibri"/>
              </a:rPr>
              <a:t>•  From the August 6 list: the dataset document is with you, cluster access works, and Tahsin sent us his Slurm guide. Generating data on the cluster is the one item still open.</a:t>
            </a:r>
          </a:p>
          <a:p>
            <a:pPr>
              <a:spcAft>
                <a:spcPts val="1200"/>
              </a:spcAft>
            </a:pPr>
            <a:r>
              <a:rPr sz="1900" b="0">
                <a:solidFill>
                  <a:srgbClr val="ECECEC"/>
                </a:solidFill>
                <a:latin typeface="Calibri"/>
              </a:rPr>
              <a:t>•  We built the whole pipeline, trained it, and measured it against controls we designed before writing any model code.</a:t>
            </a:r>
          </a:p>
          <a:p>
            <a:pPr>
              <a:spcAft>
                <a:spcPts val="1200"/>
              </a:spcAft>
            </a:pPr>
            <a:r>
              <a:rPr sz="1900" b="0">
                <a:solidFill>
                  <a:srgbClr val="ECECEC"/>
                </a:solidFill>
                <a:latin typeface="Calibri"/>
              </a:rPr>
              <a:t>•  The result is not the one we hoped for, and we think it is the more useful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How a GRU works</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800" b="0">
                <a:solidFill>
                  <a:srgbClr val="ECECEC"/>
                </a:solidFill>
                <a:latin typeface="Calibri"/>
              </a:rPr>
              <a:t>•  A recurrent network reads a sequence one step at a time and carries a memory forward, reusing the same weights at every step.</a:t>
            </a:r>
          </a:p>
          <a:p>
            <a:pPr>
              <a:spcAft>
                <a:spcPts val="1200"/>
              </a:spcAft>
            </a:pPr>
            <a:r>
              <a:rPr sz="1800" b="0">
                <a:solidFill>
                  <a:srgbClr val="ECECEC"/>
                </a:solidFill>
                <a:latin typeface="Calibri"/>
              </a:rPr>
              <a:t>•  It breaks on long sequences: training multiplies the gradient by the same factor once per step, so it shrinks toward zero and the early steps never learn. Nothing crashes, it simply never learns.</a:t>
            </a:r>
          </a:p>
          <a:p>
            <a:pPr>
              <a:spcAft>
                <a:spcPts val="1200"/>
              </a:spcAft>
            </a:pPr>
            <a:r>
              <a:rPr sz="1800" b="0">
                <a:solidFill>
                  <a:srgbClr val="ECECEC"/>
                </a:solidFill>
                <a:latin typeface="Calibri"/>
              </a:rPr>
              <a:t>•  A GRU adds two gates. The update gate lets it keep its memory unchanged from one step to the next, which gives the gradient a route backward that does not decay. That is the actual fix.</a:t>
            </a:r>
          </a:p>
          <a:p>
            <a:pPr>
              <a:spcAft>
                <a:spcPts val="1200"/>
              </a:spcAft>
            </a:pPr>
            <a:r>
              <a:rPr sz="1800" b="0">
                <a:solidFill>
                  <a:srgbClr val="ECECEC"/>
                </a:solidFill>
                <a:latin typeface="Calibri"/>
              </a:rPr>
              <a:t>•  The reset gate lets it throw memory away when the past has stopped predicting the future, which in our simulation is what happens when a boid hits an obstacle, bounces off a wall, or turns toward food.</a:t>
            </a:r>
          </a:p>
          <a:p>
            <a:pPr>
              <a:spcAft>
                <a:spcPts val="1200"/>
              </a:spcAft>
            </a:pPr>
            <a:r>
              <a:rPr sz="1800" b="0">
                <a:solidFill>
                  <a:srgbClr val="ECECEC"/>
                </a:solidFill>
                <a:latin typeface="Calibri"/>
              </a:rPr>
              <a:t>•  It is a lighter LSTM: two gates instead of three, one memory vector instead of two, three quarters of the parameters, comparable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Where the GRU goes in our code</a:t>
            </a:r>
          </a:p>
        </p:txBody>
      </p:sp>
      <p:sp>
        <p:nvSpPr>
          <p:cNvPr id="3" name="TextBox 2"/>
          <p:cNvSpPr txBox="1"/>
          <p:nvPr/>
        </p:nvSpPr>
        <p:spPr>
          <a:xfrm>
            <a:off x="685800" y="1554480"/>
            <a:ext cx="10972800" cy="3200400"/>
          </a:xfrm>
          <a:prstGeom prst="rect">
            <a:avLst/>
          </a:prstGeom>
          <a:noFill/>
        </p:spPr>
        <p:txBody>
          <a:bodyPr wrap="square">
            <a:spAutoFit/>
          </a:bodyPr>
          <a:lstStyle/>
          <a:p>
            <a:pPr>
              <a:spcAft>
                <a:spcPts val="1200"/>
              </a:spcAft>
            </a:pPr>
            <a:r>
              <a:rPr sz="1700" b="0">
                <a:solidFill>
                  <a:srgbClr val="ECECEC"/>
                </a:solidFill>
                <a:latin typeface="Calibri"/>
              </a:rPr>
              <a:t>•  A GRU reads one sequence. Run it on each boid separately and it tells you what that boid has been doing, and nothing about who it is doing it with. On its own it cannot do our task.</a:t>
            </a:r>
          </a:p>
          <a:p>
            <a:pPr>
              <a:spcAft>
                <a:spcPts val="1200"/>
              </a:spcAft>
            </a:pPr>
            <a:r>
              <a:rPr sz="1700" b="0">
                <a:solidFill>
                  <a:srgbClr val="ECECEC"/>
                </a:solidFill>
                <a:latin typeface="Calibri"/>
              </a:rPr>
              <a:t>•  So each network takes one axis. The GRU handles time: what has this agent been doing recently. The Graph Neural Network handles relations: who is influencing whom.</a:t>
            </a:r>
          </a:p>
          <a:p>
            <a:pPr>
              <a:spcAft>
                <a:spcPts val="1200"/>
              </a:spcAft>
            </a:pPr>
            <a:r>
              <a:rPr sz="1700" b="0">
                <a:solidFill>
                  <a:srgbClr val="ECECEC"/>
                </a:solidFill>
                <a:latin typeface="Calibri"/>
              </a:rPr>
              <a:t>•  One GRU, with its weights shared across every agent, turns each boid's recent motion into a vector. Message passing then runs over those vectors, and a final layer scores each pair of boids.</a:t>
            </a:r>
          </a:p>
          <a:p>
            <a:pPr>
              <a:spcAft>
                <a:spcPts val="1200"/>
              </a:spcAft>
            </a:pPr>
            <a:r>
              <a:rPr sz="1700" b="0">
                <a:solidFill>
                  <a:srgbClr val="ECECEC"/>
                </a:solidFill>
                <a:latin typeface="Calibri"/>
              </a:rPr>
              <a:t>•  Sharing one GRU across all agents is what lets a model trained on 40 boid runs be applied unchanged to 160 boid runs.</a:t>
            </a:r>
          </a:p>
        </p:txBody>
      </p:sp>
      <p:sp>
        <p:nvSpPr>
          <p:cNvPr id="4" name="Rounded Rectangle 3"/>
          <p:cNvSpPr/>
          <p:nvPr/>
        </p:nvSpPr>
        <p:spPr>
          <a:xfrm>
            <a:off x="685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Agent motion</a:t>
            </a:r>
          </a:p>
          <a:p>
            <a:pPr algn="ctr">
              <a:spcAft>
                <a:spcPts val="0"/>
              </a:spcAft>
            </a:pPr>
            <a:r>
              <a:rPr sz="1300" b="1">
                <a:solidFill>
                  <a:srgbClr val="ECECEC"/>
                </a:solidFill>
                <a:latin typeface="Calibri"/>
              </a:rPr>
              <a:t>history</a:t>
            </a:r>
          </a:p>
        </p:txBody>
      </p:sp>
      <p:sp>
        <p:nvSpPr>
          <p:cNvPr id="5" name="Right Arrow 4"/>
          <p:cNvSpPr/>
          <p:nvPr/>
        </p:nvSpPr>
        <p:spPr>
          <a:xfrm>
            <a:off x="2569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71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GRU</a:t>
            </a:r>
          </a:p>
        </p:txBody>
      </p:sp>
      <p:sp>
        <p:nvSpPr>
          <p:cNvPr id="7" name="Right Arrow 6"/>
          <p:cNvSpPr/>
          <p:nvPr/>
        </p:nvSpPr>
        <p:spPr>
          <a:xfrm>
            <a:off x="4855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57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Node</a:t>
            </a:r>
          </a:p>
          <a:p>
            <a:pPr algn="ctr">
              <a:spcAft>
                <a:spcPts val="0"/>
              </a:spcAft>
            </a:pPr>
            <a:r>
              <a:rPr sz="1300" b="1">
                <a:solidFill>
                  <a:srgbClr val="ECECEC"/>
                </a:solidFill>
                <a:latin typeface="Calibri"/>
              </a:rPr>
              <a:t>embedding</a:t>
            </a:r>
          </a:p>
        </p:txBody>
      </p:sp>
      <p:sp>
        <p:nvSpPr>
          <p:cNvPr id="9" name="Right Arrow 8"/>
          <p:cNvSpPr/>
          <p:nvPr/>
        </p:nvSpPr>
        <p:spPr>
          <a:xfrm>
            <a:off x="7141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3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Message</a:t>
            </a:r>
          </a:p>
          <a:p>
            <a:pPr algn="ctr">
              <a:spcAft>
                <a:spcPts val="0"/>
              </a:spcAft>
            </a:pPr>
            <a:r>
              <a:rPr sz="1300" b="1">
                <a:solidFill>
                  <a:srgbClr val="ECECEC"/>
                </a:solidFill>
                <a:latin typeface="Calibri"/>
              </a:rPr>
              <a:t>passing</a:t>
            </a:r>
          </a:p>
        </p:txBody>
      </p:sp>
      <p:sp>
        <p:nvSpPr>
          <p:cNvPr id="11" name="Right Arrow 10"/>
          <p:cNvSpPr/>
          <p:nvPr/>
        </p:nvSpPr>
        <p:spPr>
          <a:xfrm>
            <a:off x="9427464" y="5180075"/>
            <a:ext cx="347472" cy="292608"/>
          </a:xfrm>
          <a:prstGeom prst="rightArrow">
            <a:avLst/>
          </a:prstGeom>
          <a:solidFill>
            <a:srgbClr val="E03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29800" y="4892040"/>
            <a:ext cx="1828800" cy="868680"/>
          </a:xfrm>
          <a:prstGeom prst="roundRect">
            <a:avLst/>
          </a:prstGeom>
          <a:solidFill>
            <a:srgbClr val="2A2A34"/>
          </a:solidFill>
          <a:ln w="15875">
            <a:solidFill>
              <a:srgbClr val="E03A3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0"/>
              </a:spcAft>
            </a:pPr>
            <a:r>
              <a:rPr sz="1300" b="1">
                <a:solidFill>
                  <a:srgbClr val="ECECEC"/>
                </a:solidFill>
                <a:latin typeface="Calibri"/>
              </a:rPr>
              <a:t>Score for</a:t>
            </a:r>
          </a:p>
          <a:p>
            <a:pPr algn="ctr">
              <a:spcAft>
                <a:spcPts val="0"/>
              </a:spcAft>
            </a:pPr>
            <a:r>
              <a:rPr sz="1300" b="1">
                <a:solidFill>
                  <a:srgbClr val="ECECEC"/>
                </a:solidFill>
                <a:latin typeface="Calibri"/>
              </a:rPr>
              <a:t>each pair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The experiment, and the controls we built first</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600" b="0">
                <a:solidFill>
                  <a:srgbClr val="ECECEC"/>
                </a:solidFill>
                <a:latin typeface="Calibri"/>
              </a:rPr>
              <a:t>•  The task you set on July 28: for each pair of boids, decide whether they are connected, under separation, under cohesion, and under alignment.</a:t>
            </a:r>
          </a:p>
          <a:p>
            <a:pPr>
              <a:spcAft>
                <a:spcPts val="1200"/>
              </a:spcAft>
            </a:pPr>
            <a:r>
              <a:rPr sz="1600" b="0">
                <a:solidFill>
                  <a:srgbClr val="ECECEC"/>
                </a:solidFill>
                <a:latin typeface="Calibri"/>
              </a:rPr>
              <a:t>•  40 simulation runs of 200 frames. We hold out whole runs, never single frames, because frames next to each other are nearly the same picture.</a:t>
            </a:r>
          </a:p>
          <a:p>
            <a:pPr>
              <a:spcAft>
                <a:spcPts val="1200"/>
              </a:spcAft>
            </a:pPr>
            <a:r>
              <a:rPr sz="1600" b="0">
                <a:solidFill>
                  <a:srgbClr val="ECECEC"/>
                </a:solidFill>
                <a:latin typeface="Calibri"/>
              </a:rPr>
              <a:t>•  Before writing the model we built two things to measure it against: ranking pairs by distance alone, and the best possible distance cutoff chosen per run using the test answers.</a:t>
            </a:r>
          </a:p>
          <a:p>
            <a:pPr>
              <a:spcAft>
                <a:spcPts val="1200"/>
              </a:spcAft>
            </a:pPr>
            <a:r>
              <a:rPr sz="1600" b="0">
                <a:solidFill>
                  <a:srgbClr val="ECECEC"/>
                </a:solidFill>
                <a:latin typeface="Calibri"/>
              </a:rPr>
              <a:t>•  We built them first on purpose. The true answer is a distance rule, so a model handed the distance could look brilliant while understanding nothing. Without something to compare against, we could not have told the difference.</a:t>
            </a:r>
          </a:p>
          <a:p>
            <a:pPr>
              <a:spcAft>
                <a:spcPts val="1200"/>
              </a:spcAft>
            </a:pPr>
            <a:r>
              <a:rPr sz="1600" b="0">
                <a:solidFill>
                  <a:srgbClr val="ECECEC"/>
                </a:solidFill>
                <a:latin typeface="Calibri"/>
              </a:rPr>
              <a:t>•  We also planned a harder test: hide distance from the model entirely and see whether it can still find the connections from motion alone.</a:t>
            </a:r>
          </a:p>
          <a:p>
            <a:pPr>
              <a:spcAft>
                <a:spcPts val="1200"/>
              </a:spcAft>
            </a:pPr>
            <a:r>
              <a:rPr sz="1600" b="0">
                <a:solidFill>
                  <a:srgbClr val="ECECEC"/>
                </a:solidFill>
                <a:latin typeface="Calibri"/>
              </a:rPr>
              <a:t>•  Everything was repeated five times with different splits, so the numbers on the next slide come with a spread rather than a single lucky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What we found</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600" b="0">
                <a:solidFill>
                  <a:srgbClr val="ECECEC"/>
                </a:solidFill>
                <a:latin typeface="Calibri"/>
              </a:rPr>
              <a:t>•  Given the distance between two boids, our model does no better than just ranking pairs by how close they are. Both sit at about 0.999, and across five repeats the two overlap inside their own spread. The graph network added nothing we can measure.</a:t>
            </a:r>
          </a:p>
          <a:p>
            <a:pPr>
              <a:spcAft>
                <a:spcPts val="1200"/>
              </a:spcAft>
            </a:pPr>
            <a:r>
              <a:rPr sz="1600" b="0">
                <a:solidFill>
                  <a:srgbClr val="ECECEC"/>
                </a:solidFill>
                <a:latin typeface="Calibri"/>
              </a:rPr>
              <a:t>•  We are reporting that plainly because it is what the numbers say. It is not a bug: the answer we train against is a distance rule, so there is almost no room above distance to improve on.</a:t>
            </a:r>
          </a:p>
          <a:p>
            <a:pPr>
              <a:spcAft>
                <a:spcPts val="1200"/>
              </a:spcAft>
            </a:pPr>
            <a:r>
              <a:rPr sz="1600" b="0">
                <a:solidFill>
                  <a:srgbClr val="ECECEC"/>
                </a:solidFill>
                <a:latin typeface="Calibri"/>
              </a:rPr>
              <a:t>•  Our first attempt to hide distance was wrong, and we caught it. We removed distance from the pair but kept feeding the model each boid's position, from which it simply rebuilt the distance. It scored 0.998 and proved nothing.</a:t>
            </a:r>
          </a:p>
          <a:p>
            <a:pPr>
              <a:spcAft>
                <a:spcPts val="1200"/>
              </a:spcAft>
            </a:pPr>
            <a:r>
              <a:rPr sz="1600" b="0">
                <a:solidFill>
                  <a:srgbClr val="ECECEC"/>
                </a:solidFill>
                <a:latin typeface="Calibri"/>
              </a:rPr>
              <a:t>•  With every trace of position removed, so the model sees only how fast and in what direction each boid is moving, it still finds the connections at about 0.93, holding between 0.91 and 0.95 across all five repeats, where a coin flip is 0.5.</a:t>
            </a:r>
          </a:p>
          <a:p>
            <a:pPr>
              <a:spcAft>
                <a:spcPts val="1200"/>
              </a:spcAft>
            </a:pPr>
            <a:r>
              <a:rPr sz="1600" b="0">
                <a:solidFill>
                  <a:srgbClr val="ECECEC"/>
                </a:solidFill>
                <a:latin typeface="Calibri"/>
              </a:rPr>
              <a:t>•  That last number is the only one saying something a single snapshot could not: how agents move together over time really does carry who is interacting with whom. That is where the GRU earns its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6"/>
        </a:solidFill>
        <a:effectLst/>
      </p:bgPr>
    </p:bg>
    <p:spTree>
      <p:nvGrpSpPr>
        <p:cNvPr id="1" name=""/>
        <p:cNvGrpSpPr/>
        <p:nvPr/>
      </p:nvGrpSpPr>
      <p:grpSpPr/>
      <p:sp>
        <p:nvSpPr>
          <p:cNvPr id="2" name="TextBox 1"/>
          <p:cNvSpPr txBox="1"/>
          <p:nvPr/>
        </p:nvSpPr>
        <p:spPr>
          <a:xfrm>
            <a:off x="640080" y="411480"/>
            <a:ext cx="10972800" cy="1005840"/>
          </a:xfrm>
          <a:prstGeom prst="rect">
            <a:avLst/>
          </a:prstGeom>
          <a:noFill/>
        </p:spPr>
        <p:txBody>
          <a:bodyPr wrap="square">
            <a:spAutoFit/>
          </a:bodyPr>
          <a:lstStyle/>
          <a:p>
            <a:pPr>
              <a:spcAft>
                <a:spcPts val="800"/>
              </a:spcAft>
            </a:pPr>
            <a:r>
              <a:rPr sz="3000" b="1">
                <a:solidFill>
                  <a:srgbClr val="E03A3C"/>
                </a:solidFill>
                <a:latin typeface="Calibri"/>
              </a:rPr>
              <a:t>Questions for you</a:t>
            </a:r>
          </a:p>
        </p:txBody>
      </p:sp>
      <p:sp>
        <p:nvSpPr>
          <p:cNvPr id="3" name="TextBox 2"/>
          <p:cNvSpPr txBox="1"/>
          <p:nvPr/>
        </p:nvSpPr>
        <p:spPr>
          <a:xfrm>
            <a:off x="685800" y="1554480"/>
            <a:ext cx="10972800" cy="4846320"/>
          </a:xfrm>
          <a:prstGeom prst="rect">
            <a:avLst/>
          </a:prstGeom>
          <a:noFill/>
        </p:spPr>
        <p:txBody>
          <a:bodyPr wrap="square">
            <a:spAutoFit/>
          </a:bodyPr>
          <a:lstStyle/>
          <a:p>
            <a:pPr>
              <a:spcAft>
                <a:spcPts val="1200"/>
              </a:spcAft>
            </a:pPr>
            <a:r>
              <a:rPr sz="1800" b="0">
                <a:solidFill>
                  <a:srgbClr val="ECECEC"/>
                </a:solidFill>
                <a:latin typeface="Calibri"/>
              </a:rPr>
              <a:t>•  Given that distance alone already solves this task, is classifying our own simulated edges still the right target, or should we be recovering the interaction radius itself?</a:t>
            </a:r>
          </a:p>
          <a:p>
            <a:pPr>
              <a:spcAft>
                <a:spcPts val="1200"/>
              </a:spcAft>
            </a:pPr>
            <a:r>
              <a:rPr sz="1800" b="0">
                <a:solidFill>
                  <a:srgbClr val="ECECEC"/>
                </a:solidFill>
                <a:latin typeface="Calibri"/>
              </a:rPr>
              <a:t>•  Would you rather we now add the leader following and food seeking relationships, or move to predicting the motion itself?</a:t>
            </a:r>
          </a:p>
          <a:p>
            <a:pPr>
              <a:spcAft>
                <a:spcPts val="1200"/>
              </a:spcAft>
            </a:pPr>
            <a:r>
              <a:rPr sz="1800" b="0">
                <a:solidFill>
                  <a:srgbClr val="ECECEC"/>
                </a:solidFill>
                <a:latin typeface="Calibri"/>
              </a:rPr>
              <a:t>•  Our history windows are 10 frames, which is where a GRU has the least advantage over a plain recurrent network. Do you want longer windows?</a:t>
            </a:r>
          </a:p>
          <a:p>
            <a:pPr>
              <a:spcAft>
                <a:spcPts val="1200"/>
              </a:spcAft>
            </a:pPr>
            <a:r>
              <a:rPr sz="1800" b="0">
                <a:solidFill>
                  <a:srgbClr val="ECECEC"/>
                </a:solidFill>
                <a:latin typeface="Calibri"/>
              </a:rPr>
              <a:t>•  Data format, still open since June: our trajectory files append is_leader, leader_id, and food_id after Angel's original columns. Is that compatible with his pipeline before we generate the large datasets on the cluster?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