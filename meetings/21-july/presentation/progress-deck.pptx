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6D7B1C2-14A9-4FBE-A909-A8C9CB3F812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179E411-BC81-47BB-9B44-0A60B19D138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573348A-5640-43C6-BB29-A325385C7D2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9D38B8F-ACEC-45FF-9670-638B2D43361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B614304-5B1D-4AC0-8BDA-487455D25B1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D059A9C-2D93-4E2B-96B8-F50E0736B7A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89D5C32-49DA-457C-97FA-730E467BBAE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A32D3AE-5043-4280-8FB0-199DBD11785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0D8631A-B3E0-4BA4-898F-CF2FB12DC30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E8F1DC-1083-4609-9CB2-B12CD38BB47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4347EB0-920A-4F2F-9848-55D46728A5A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822960" y="1828800"/>
            <a:ext cx="105152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3000" b="1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Learning Emerging Behaviors of Dynamic Multi-Agent Systems using Graph Neural Networks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>
                <a:solidFill>
                  <a:srgbClr val="e03a3c"/>
                </a:solidFill>
                <a:effectLst/>
                <a:uFillTx/>
                <a:latin typeface="Calibri"/>
              </a:rPr>
              <a:t>Progress: Leader-Follower behavior and a configuration file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822960" y="4572000"/>
            <a:ext cx="105152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200" b="1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Mustafa Nazeer and Joel Pampam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0" u="none" strike="noStrike">
                <a:solidFill>
                  <a:srgbClr val="b2b2be"/>
                </a:solidFill>
                <a:effectLst/>
                <a:uFillTx/>
                <a:latin typeface="Calibri"/>
              </a:rPr>
              <a:t>Mentor: Dr. Diego Patino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u="none" strike="noStrike">
                <a:solidFill>
                  <a:srgbClr val="b2b2be"/>
                </a:solidFill>
                <a:effectLst/>
                <a:uFillTx/>
                <a:latin typeface="Calibri"/>
              </a:rPr>
              <a:t>July 28, 2026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1"/>
          <p:cNvSpPr/>
          <p:nvPr/>
        </p:nvSpPr>
        <p:spPr>
          <a:xfrm>
            <a:off x="640080" y="411480"/>
            <a:ext cx="10972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e03a3c"/>
                </a:solidFill>
                <a:effectLst/>
                <a:uFillTx/>
                <a:latin typeface="Calibri"/>
              </a:rPr>
              <a:t>What you asked us for on July 21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685800" y="1554480"/>
            <a:ext cx="10972440" cy="170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A configuration file, with a separate radius for every rule and switches to turn rules on and off.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Options for worlds beyond the infinite wraparound one, and a purpose for the agents.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Learn how Graph Neural Networks work, and start using PyTorch Geometric.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Two of these are finished and are the subject of these slides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1"/>
          <p:cNvSpPr/>
          <p:nvPr/>
        </p:nvSpPr>
        <p:spPr>
          <a:xfrm>
            <a:off x="640080" y="411480"/>
            <a:ext cx="10972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e03a3c"/>
                </a:solidFill>
                <a:effectLst/>
                <a:uFillTx/>
                <a:latin typeface="Calibri"/>
              </a:rPr>
              <a:t>Leader-Follower, implemented twice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685800" y="1554480"/>
            <a:ext cx="6400440" cy="30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Joel built his own Leader-Follower simulation in Pygame, with wandering leaders, predators, obstacles, and a live border toggle.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Mustafa built a separate one inside the existing numpy simulation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In both, a chosen number of leaders drift on their own heading and every other agent steers toward its nearest leader within a follow radius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In both, leaders and followers alike still run separation, alignment, and cohesion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7" name="Picture 3" descr="snapshot_leader_follower.png"/>
          <p:cNvPicPr/>
          <p:nvPr/>
        </p:nvPicPr>
        <p:blipFill>
          <a:blip r:embed="rId1"/>
          <a:stretch/>
        </p:blipFill>
        <p:spPr>
          <a:xfrm>
            <a:off x="7452360" y="1600200"/>
            <a:ext cx="4068720" cy="40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Box 4"/>
          <p:cNvSpPr/>
          <p:nvPr/>
        </p:nvSpPr>
        <p:spPr>
          <a:xfrm>
            <a:off x="7452360" y="5806440"/>
            <a:ext cx="4068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0" u="none" strike="noStrike">
                <a:solidFill>
                  <a:srgbClr val="b2b2be"/>
                </a:solidFill>
                <a:effectLst/>
                <a:uFillTx/>
                <a:latin typeface="Calibri"/>
              </a:rPr>
              <a:t>Leaders in gold. Every follower is attached to one of them.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640080" y="411480"/>
            <a:ext cx="10972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e03a3c"/>
                </a:solidFill>
                <a:effectLst/>
                <a:uFillTx/>
                <a:latin typeface="Calibri"/>
              </a:rPr>
              <a:t>What the behavior adds to the data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685800" y="1554480"/>
            <a:ext cx="10972440" cy="66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The follow radius is deliberately wider than the cohesion radius, so a leader pulls from further away than ordinary flocking reaches.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640080" y="411480"/>
            <a:ext cx="109724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e03a3c"/>
                </a:solidFill>
                <a:effectLst/>
                <a:uFillTx/>
                <a:latin typeface="Calibri"/>
              </a:rPr>
              <a:t>The configuration file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685800" y="1554480"/>
            <a:ext cx="1097244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All tunable values moved out of the code and into a configuration file.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Every rule has its own radius and its own on and off switch, so any rule can be removed from an experiment without editing code.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A rule switched off is not computed at all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640080" y="411480"/>
            <a:ext cx="10972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3000" b="1" u="none" strike="noStrike">
                <a:solidFill>
                  <a:srgbClr val="e03a3c"/>
                </a:solidFill>
                <a:effectLst/>
                <a:uFillTx/>
                <a:latin typeface="Calibri"/>
              </a:rPr>
              <a:t>What we checked, and what is next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685800" y="1554480"/>
            <a:ext cx="10972440" cy="22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Turning rules off changes the flock in the way the theory predicts. Without separation the flock collapses in on itself, and with only separation it never forms a flock at all.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With following switched off, leaders wander away from the group, but with it on, the group stays with them.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ececec"/>
                </a:solidFill>
                <a:effectLst/>
                <a:uFillTx/>
                <a:latin typeface="Calibri"/>
              </a:rPr>
              <a:t>•  Next: Graph Neural Networks. Reading how they work and why they differ from a CNN, then building a first model with PyTorch Geometric on the data we are now recording.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LibreOffice/25.8.7.3$Linux_X86_64 LibreOffice_project/580$Build-3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2026-07-28T09:46:02Z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