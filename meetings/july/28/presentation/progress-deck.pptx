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086578F-1EB0-43C7-B492-EE7B3B00EC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7824E32-5D00-460B-8FBC-ECADFA7807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331963C-8494-4BE0-B1E0-A6A1C2F01F8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C8B584E-0475-4858-A963-A4C59A7F59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B7C228A-328E-492F-9515-4E6B3750AF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391C3FA-59C7-4E54-BE3D-A9593AD145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A74030E-831A-4A01-AC67-418EA6B127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9925884-0C91-4169-B47A-902925844B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08626AD-EB31-481C-862C-1EE4DF0281D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E64F2F1-0673-4C84-A126-1DB8CD4194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8CE9C0A-3583-4904-809C-3E5E16A8450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1e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822960" y="1828800"/>
            <a:ext cx="1051488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3000" b="1" u="none" strike="noStrike">
                <a:solidFill>
                  <a:srgbClr val="ececec"/>
                </a:solidFill>
                <a:effectLst/>
                <a:uFillTx/>
                <a:latin typeface="Calibri"/>
              </a:rPr>
              <a:t>Learning Emerging Behaviors of Dynamic Multi-Agent Systems using Graph Neural Networks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2000" b="0" u="none" strike="noStrike">
                <a:solidFill>
                  <a:srgbClr val="e03a3c"/>
                </a:solidFill>
                <a:effectLst/>
                <a:uFillTx/>
                <a:latin typeface="Calibri"/>
              </a:rPr>
              <a:t>Progress: Food foraging and a truly infinite world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822960" y="4572000"/>
            <a:ext cx="105148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2200" b="1" u="none" strike="noStrike">
                <a:solidFill>
                  <a:srgbClr val="ececec"/>
                </a:solidFill>
                <a:effectLst/>
                <a:uFillTx/>
                <a:latin typeface="Calibri"/>
              </a:rPr>
              <a:t>Mustafa Nazeer and Joel Pampam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b2b2be"/>
                </a:solidFill>
                <a:effectLst/>
                <a:uFillTx/>
                <a:latin typeface="Calibri"/>
              </a:rPr>
              <a:t>Mentor: Dr. Diego Patino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600" b="0" u="none" strike="noStrike">
                <a:solidFill>
                  <a:srgbClr val="b2b2be"/>
                </a:solidFill>
                <a:effectLst/>
                <a:uFillTx/>
                <a:latin typeface="Calibri"/>
              </a:rPr>
              <a:t>August 6, 2026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1e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1"/>
          <p:cNvSpPr/>
          <p:nvPr/>
        </p:nvSpPr>
        <p:spPr>
          <a:xfrm>
            <a:off x="640080" y="411480"/>
            <a:ext cx="109720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3000" b="1" u="none" strike="noStrike">
                <a:solidFill>
                  <a:srgbClr val="e03a3c"/>
                </a:solidFill>
                <a:effectLst/>
                <a:uFillTx/>
                <a:latin typeface="Calibri"/>
              </a:rPr>
              <a:t>What you asked us for on July 28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"/>
          <p:cNvSpPr/>
          <p:nvPr/>
        </p:nvSpPr>
        <p:spPr>
          <a:xfrm>
            <a:off x="685800" y="1554480"/>
            <a:ext cx="10972080" cy="12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900" b="0" u="none" strike="noStrike">
                <a:solidFill>
                  <a:srgbClr val="ececec"/>
                </a:solidFill>
                <a:effectLst/>
                <a:uFillTx/>
                <a:latin typeface="Calibri"/>
              </a:rPr>
              <a:t>•  A new behavioral simulation that is neither leader follower or predator prey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900" b="0" u="none" strike="noStrike">
                <a:solidFill>
                  <a:srgbClr val="ececec"/>
                </a:solidFill>
                <a:effectLst/>
                <a:uFillTx/>
                <a:latin typeface="Calibri"/>
              </a:rPr>
              <a:t>•  A truly infinite world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900" b="0" u="none" strike="noStrike">
                <a:solidFill>
                  <a:srgbClr val="ececec"/>
                </a:solidFill>
                <a:effectLst/>
                <a:uFillTx/>
                <a:latin typeface="Calibri"/>
              </a:rPr>
              <a:t>•  Keep learning about Graph Neural Networks, and look for a relevant real dataset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1e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1"/>
          <p:cNvSpPr/>
          <p:nvPr/>
        </p:nvSpPr>
        <p:spPr>
          <a:xfrm>
            <a:off x="640080" y="411480"/>
            <a:ext cx="109720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3000" b="1" u="none" strike="noStrike">
                <a:solidFill>
                  <a:srgbClr val="e03a3c"/>
                </a:solidFill>
                <a:effectLst/>
                <a:uFillTx/>
                <a:latin typeface="Calibri"/>
              </a:rPr>
              <a:t>Food foraging, the third behavior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"/>
          <p:cNvSpPr/>
          <p:nvPr/>
        </p:nvSpPr>
        <p:spPr>
          <a:xfrm>
            <a:off x="685800" y="1554480"/>
            <a:ext cx="6400080" cy="23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ececec"/>
                </a:solidFill>
                <a:effectLst/>
                <a:uFillTx/>
                <a:latin typeface="Calibri"/>
              </a:rPr>
              <a:t>•  A few food sources sit in the world, and every boid steers toward the nearest one it can sense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ececec"/>
                </a:solidFill>
                <a:effectLst/>
                <a:uFillTx/>
                <a:latin typeface="Calibri"/>
              </a:rPr>
              <a:t>•  Eating drains a source a little each step, an exhausted source disappears and a fresh one appears at a seeded random spot, so the flock re targets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ececec"/>
                </a:solidFill>
                <a:effectLst/>
                <a:uFillTx/>
                <a:latin typeface="Calibri"/>
              </a:rPr>
              <a:t>•  Separation, alignment, and cohesion stay active for every agent, which was your condition for all the new behaviors.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7" name="Picture 3" descr="snapshot_foraging.png"/>
          <p:cNvPicPr/>
          <p:nvPr/>
        </p:nvPicPr>
        <p:blipFill>
          <a:blip r:embed="rId1"/>
          <a:stretch/>
        </p:blipFill>
        <p:spPr>
          <a:xfrm>
            <a:off x="7452360" y="1600200"/>
            <a:ext cx="4068360" cy="406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4"/>
          <p:cNvSpPr/>
          <p:nvPr/>
        </p:nvSpPr>
        <p:spPr>
          <a:xfrm>
            <a:off x="7452360" y="5806440"/>
            <a:ext cx="40683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b2b2be"/>
                </a:solidFill>
                <a:effectLst/>
                <a:uFillTx/>
                <a:latin typeface="Calibri"/>
              </a:rPr>
              <a:t>Green circles are food sources. They shrink as the flock eats them.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1e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640080" y="411480"/>
            <a:ext cx="109720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3000" b="1" u="none" strike="noStrike">
                <a:solidFill>
                  <a:srgbClr val="e03a3c"/>
                </a:solidFill>
                <a:effectLst/>
                <a:uFillTx/>
                <a:latin typeface="Calibri"/>
              </a:rPr>
              <a:t>A truly infinite world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"/>
          <p:cNvSpPr/>
          <p:nvPr/>
        </p:nvSpPr>
        <p:spPr>
          <a:xfrm>
            <a:off x="685800" y="1554480"/>
            <a:ext cx="6400080" cy="20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ececec"/>
                </a:solidFill>
                <a:effectLst/>
                <a:uFillTx/>
                <a:latin typeface="Calibri"/>
              </a:rPr>
              <a:t>•  The world now has a third mode with no edges at all, positions are unbounded and nothing ever bounces or wraps.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ececec"/>
                </a:solidFill>
                <a:effectLst/>
                <a:uFillTx/>
                <a:latin typeface="Calibri"/>
              </a:rPr>
              <a:t>•  The camera follows the flock so the animation stays readable while the flock travels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ececec"/>
                </a:solidFill>
                <a:effectLst/>
                <a:uFillTx/>
                <a:latin typeface="Calibri"/>
              </a:rPr>
              <a:t>•  Food respawns near the flock rather than back at the origin, so foraging keeps working however far the flock roams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" name="Picture 3" descr="snapshot_infinite.png"/>
          <p:cNvPicPr/>
          <p:nvPr/>
        </p:nvPicPr>
        <p:blipFill>
          <a:blip r:embed="rId1"/>
          <a:stretch/>
        </p:blipFill>
        <p:spPr>
          <a:xfrm>
            <a:off x="7452360" y="1600200"/>
            <a:ext cx="4068360" cy="406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TextBox 4"/>
          <p:cNvSpPr/>
          <p:nvPr/>
        </p:nvSpPr>
        <p:spPr>
          <a:xfrm>
            <a:off x="7452360" y="5806440"/>
            <a:ext cx="40683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300" b="0" u="none" strike="noStrike">
                <a:solidFill>
                  <a:srgbClr val="b2b2be"/>
                </a:solidFill>
                <a:effectLst/>
                <a:uFillTx/>
                <a:latin typeface="Calibri"/>
              </a:rPr>
              <a:t>Step 280: the flock has drifted far outside the original 60 by 60 spawn area. The camera follows it.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1e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1"/>
          <p:cNvSpPr/>
          <p:nvPr/>
        </p:nvSpPr>
        <p:spPr>
          <a:xfrm>
            <a:off x="640080" y="411480"/>
            <a:ext cx="109720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3000" b="1" u="none" strike="noStrike">
                <a:solidFill>
                  <a:srgbClr val="e03a3c"/>
                </a:solidFill>
                <a:effectLst/>
                <a:uFillTx/>
                <a:latin typeface="Calibri"/>
              </a:rPr>
              <a:t>What we checked, where things stand, what is next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685800" y="1554480"/>
            <a:ext cx="10972080" cy="359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ececec"/>
                </a:solidFill>
                <a:effectLst/>
                <a:uFillTx/>
                <a:latin typeface="Calibri"/>
              </a:rPr>
              <a:t>•  With the food pull enabled the flock visibly converges on sources and stays near them, with it disabled boids drift past food as if it were not there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ececec"/>
                </a:solidFill>
                <a:effectLst/>
                <a:uFillTx/>
                <a:latin typeface="Calibri"/>
              </a:rPr>
              <a:t>•  Running the same configuration twice produces identical data, which is what makes the dataset trustworthy.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ececec"/>
                </a:solidFill>
                <a:effectLst/>
                <a:uFillTx/>
                <a:latin typeface="Calibri"/>
              </a:rPr>
              <a:t>•  Status: cluster access is secured. Dr. Cesar Torres has not replied to our funding email, nor to the follow up Joel sent.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ececec"/>
                </a:solidFill>
                <a:effectLst/>
                <a:uFillTx/>
                <a:latin typeface="Calibri"/>
              </a:rPr>
              <a:t>•  Real data: we surveyed public datasets. None label which agents are actually interacting, so our simulation stays the same and real data becomes the test of whether a model transfers. Some datasets: zebrafish with video, pigeon flocks attacked by a robotic falcon, and pedestrian crowds.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1e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1"/>
          <p:cNvSpPr/>
          <p:nvPr/>
        </p:nvSpPr>
        <p:spPr>
          <a:xfrm>
            <a:off x="640080" y="411480"/>
            <a:ext cx="109720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3000" b="1" u="none" strike="noStrike">
                <a:solidFill>
                  <a:srgbClr val="e03a3c"/>
                </a:solidFill>
                <a:effectLst/>
                <a:uFillTx/>
                <a:latin typeface="Calibri"/>
              </a:rPr>
              <a:t>Questions for you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"/>
          <p:cNvSpPr/>
          <p:nvPr/>
        </p:nvSpPr>
        <p:spPr>
          <a:xfrm>
            <a:off x="685800" y="1554480"/>
            <a:ext cx="109720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900" b="0" u="none" strike="noStrike">
                <a:solidFill>
                  <a:srgbClr val="ececec"/>
                </a:solidFill>
                <a:effectLst/>
                <a:uFillTx/>
                <a:latin typeface="Calibri"/>
              </a:rPr>
              <a:t>•  Funding: Dr. Cesar Torres has not answered our email or Joel's follow up. How would you like us to proceed?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900" b="0" u="none" strike="noStrike">
                <a:solidFill>
                  <a:srgbClr val="ececec"/>
                </a:solidFill>
                <a:effectLst/>
                <a:uFillTx/>
                <a:latin typeface="Calibri"/>
              </a:rPr>
              <a:t>•  Data: do you agree that the simulation stays our supervised training data, since no public dataset labels which agents are interacting?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Application>LibreOffice/25.8.7.3$Linux_X86_64 LibreOffice_project/580$Build-3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2026-08-05T00:23:43Z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